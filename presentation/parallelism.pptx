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CB470-FE78-9884-EC18-852541EDF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368D54-DA3D-F0E7-D45D-BDADD0A20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46E627-A263-AF53-8DEA-A9184F88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668DEB-CB53-5203-E4AD-A3DE4F42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B3AEAA-3BF5-4D76-4122-9832C5056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97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F02C8-CC72-5B14-5CA0-040B85B85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D2B1BE-DD38-3670-4B20-D1B517C10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3A8C83-02FB-6C4E-3EE9-88DDFC42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EC3030-4252-8D9F-4BEE-FF9F0E92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BF03D9-3CED-E1AF-5010-13A993DC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3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CA01E-9313-BE74-44D5-99554F38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1240BF-64B0-EAD7-8A7E-9E2DB47A6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7AE0D2-1983-0DE2-5E57-59E31868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138123-ADF4-789E-05AA-AC5A39BF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B21055-9984-DA74-6C87-561066B28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5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2D0E80-C49A-D91A-7ECB-99E23F27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F67956-E6CA-A0CC-5904-7DCFE7E1E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63A2BD-C8DC-56CA-C867-C39DF4347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210213-ECA0-E51C-6099-1017BE1D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68411B-25CF-8C21-B776-6601352C7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8C97B2-F567-4599-6B3C-2DBB3210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3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39632-9027-023F-497E-5532EDE3C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99BA6D-D3DB-744C-9C02-BC0AE2259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9711D6-687A-C0D0-EE91-D7B83EC11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96B78C-0D1F-EBA6-371D-D90FAD208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C8ECE3-EAB4-5789-0255-72CA7780A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4390B1-E21F-E585-2F73-F25426B3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64C4B2-4652-7C13-45A9-7E30F520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A36250-F726-2E37-FD5A-BC9BB0EDC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23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75511-E1EB-FD89-334C-C4C759A35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0B149A-18E4-5E79-39C4-C189D0952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A5D8BA-A9B5-FC5F-F932-F00710F6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4E7957-6FB8-26DA-C120-94A70891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7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A5E16FC-6770-B700-1582-5FD2F7415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BDD3B68-7505-198A-BA6E-67FEBBE2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6DFE1B-701E-7F77-C71F-3578222D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93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686AE-A95D-94D7-B1B8-947DC95E3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73C24-BA37-4117-DA97-C4A125655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E1A982-BA8F-77FA-D098-DE274438C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A6821C-0885-11B3-4788-E00143802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D8A6CD-AB1E-0BA9-169D-AEA67F23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4EC21A-9D28-E038-CA89-54E68AA6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2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FEDF9-7936-D8B2-B994-5624FF4F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339022-52C7-F581-5CEB-5120C84A1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466659-0B16-DECF-3137-3EEBB41CC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DE56EA-6C9A-B483-3DD8-705DBF7F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5225CF-7471-6FB3-90CC-21015F22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5C559B-929C-CD53-5396-BEC244EA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3A6A1-567C-5F4D-3069-D0A6EBD9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89EB34-BEA6-24F4-F5AC-3C39F12D2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FC0E07-901B-322B-E493-F4F0776F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EEF035-4C6E-5CC3-557B-2A67E0536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7A703E-2008-DA3B-672E-1FDD0D57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6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2F33E4E-3629-1D48-5298-CF084525F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CD7662-152A-34EF-421F-41E1CAC30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A3D948-ED7B-4F24-2947-3184552D7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FBCFA4-1421-7151-66E3-95F3646C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312FA7-98BD-B517-6BFD-E08DFACE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58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07F8E-BE36-AE1D-3B8C-FFB858372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973C67-7527-4677-F738-B807010D1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E4817E-9A75-A94E-734A-F57440A95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6E3D9-4CB9-468F-AF15-98D8ABA9409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A324D1-C078-2D90-FD7E-413459406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30359F-9511-0AF0-F4FF-339C124DC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BC0ED-8AA9-4890-8F4A-C8E8D9C94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9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BC9FA-A6C9-0ED0-826D-DC806BD63A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Параллелизм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ED1F47-DD75-4502-6351-C9CA9CC468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Special for </a:t>
            </a:r>
            <a:r>
              <a:rPr lang="ru-RU" dirty="0"/>
              <a:t>СМП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9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2D57A-ACB9-0BCA-1BF1-1CE089AD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СТИЛИ ПАРАЛЛЕЛЬНОГО ПРОГРАММИРОВАНИЯ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356981-5FDF-D48F-848E-D4BCB56D5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фундаментальный способ взаимодействия параллельных 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802270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7AFB3-A45E-7F5F-4883-C024F692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Стиль 1: </a:t>
            </a:r>
            <a:r>
              <a:rPr lang="ru-RU" b="1" dirty="0" err="1"/>
              <a:t>Shared</a:t>
            </a:r>
            <a:r>
              <a:rPr lang="ru-RU" b="1" dirty="0"/>
              <a:t> Memory (Разделяемая память)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A1B7B7-49C1-F52B-899D-C9C4FB7F4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Несколько потоков выполняются в общем адресном пространстве и взаимодействуют через чтение и запись общих переменных</a:t>
            </a:r>
          </a:p>
          <a:p>
            <a:pPr marL="0" indent="0">
              <a:buNone/>
            </a:pPr>
            <a:r>
              <a:rPr lang="en-US" dirty="0"/>
              <a:t>Clojure </a:t>
            </a:r>
            <a:r>
              <a:rPr lang="ru-RU" dirty="0"/>
              <a:t>примитивы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Atom </a:t>
            </a:r>
            <a:r>
              <a:rPr lang="en-US" dirty="0"/>
              <a:t>Compare-And-Swap (CAS)</a:t>
            </a:r>
          </a:p>
          <a:p>
            <a:pPr marL="0" indent="0">
              <a:buNone/>
            </a:pPr>
            <a:r>
              <a:rPr lang="en-US" b="1" dirty="0"/>
              <a:t>Ref (</a:t>
            </a:r>
            <a:r>
              <a:rPr lang="ru-RU" b="1" dirty="0"/>
              <a:t>Координированные ссылки)</a:t>
            </a:r>
            <a:r>
              <a:rPr lang="en-US" b="1" dirty="0"/>
              <a:t> (</a:t>
            </a:r>
            <a:r>
              <a:rPr lang="en-US" dirty="0"/>
              <a:t>Software Transactional Memory (STM)</a:t>
            </a:r>
          </a:p>
          <a:p>
            <a:pPr marL="0" indent="0">
              <a:buNone/>
            </a:pPr>
            <a:r>
              <a:rPr lang="en-US" b="1" dirty="0"/>
              <a:t>Agent (</a:t>
            </a:r>
            <a:r>
              <a:rPr lang="ru-RU" b="1" dirty="0"/>
              <a:t>Асинхронное состояние)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20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21AD8-C167-9D2F-7078-2135CFD2B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D7B063-B437-68E0-BBF3-6707D1876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Стиль 2: </a:t>
            </a:r>
            <a:r>
              <a:rPr lang="en-US" b="1" dirty="0"/>
              <a:t>Message Passing (</a:t>
            </a:r>
            <a:r>
              <a:rPr lang="ru-RU" b="1" dirty="0"/>
              <a:t>Передача сообщений)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B9C24C-F8FA-3054-0EE1-E7C367069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Процессы изолированы, взаимодействуют только через отправку и получение сообщений. Нет разделяемой памяти.</a:t>
            </a:r>
          </a:p>
          <a:p>
            <a:pPr marL="0" indent="0">
              <a:buNone/>
            </a:pPr>
            <a:r>
              <a:rPr lang="en-US" dirty="0"/>
              <a:t>Clojure </a:t>
            </a:r>
            <a:r>
              <a:rPr lang="ru-RU" dirty="0"/>
              <a:t>решения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 err="1"/>
              <a:t>core.async</a:t>
            </a:r>
            <a:r>
              <a:rPr lang="en-US" b="1" dirty="0"/>
              <a:t>:</a:t>
            </a:r>
          </a:p>
          <a:p>
            <a:r>
              <a:rPr lang="en-US" b="1" dirty="0"/>
              <a:t>Channels (</a:t>
            </a:r>
            <a:r>
              <a:rPr lang="ru-RU" b="1" dirty="0"/>
              <a:t>Каналы)</a:t>
            </a:r>
          </a:p>
          <a:p>
            <a:r>
              <a:rPr lang="en-US" b="1" dirty="0"/>
              <a:t>Go blocks ("</a:t>
            </a:r>
            <a:r>
              <a:rPr lang="ru-RU" b="1" dirty="0"/>
              <a:t>зелёные потоки")</a:t>
            </a:r>
            <a:br>
              <a:rPr lang="ru-RU" dirty="0"/>
            </a:br>
            <a:br>
              <a:rPr lang="ru-RU" dirty="0"/>
            </a:br>
            <a:endParaRPr lang="ru-RU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21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11C9D-2F0C-EDC2-DCAC-8741C527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Стиль 3: Data </a:t>
            </a:r>
            <a:r>
              <a:rPr lang="ru-RU" b="1" dirty="0" err="1"/>
              <a:t>Parallelism</a:t>
            </a:r>
            <a:r>
              <a:rPr lang="ru-RU" b="1" dirty="0"/>
              <a:t> (Параллелизм данных)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808EF3-5093-8617-8800-4F94AD713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Одна операция применяется параллельно к разным частям данных.</a:t>
            </a:r>
          </a:p>
          <a:p>
            <a:pPr marL="0" indent="0">
              <a:buNone/>
            </a:pPr>
            <a:r>
              <a:rPr lang="en-US" dirty="0"/>
              <a:t>Clojure</a:t>
            </a:r>
            <a:r>
              <a:rPr lang="ru-RU" dirty="0"/>
              <a:t> решения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 err="1"/>
              <a:t>pmap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reducers (r/fold)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00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9C350-7358-FD8C-FE76-B64B4C31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Стиль 4: </a:t>
            </a:r>
            <a:r>
              <a:rPr lang="en-US" b="1" dirty="0"/>
              <a:t>RPC/Rendezvous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430305-6F5F-ED29-E375-584CBD5BC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Процесс вызывает процедуру в другом процессе и ждёт результата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Clojure </a:t>
            </a:r>
            <a:r>
              <a:rPr lang="ru-RU" dirty="0"/>
              <a:t>решения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Future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16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44617-EBF1-9E0E-822F-F8F9A302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Философия </a:t>
            </a:r>
            <a:r>
              <a:rPr lang="en-US" b="1" dirty="0"/>
              <a:t>Clojure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85DDE-6240-1663-A4BC-885AF180B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Immutability First</a:t>
            </a:r>
          </a:p>
          <a:p>
            <a:r>
              <a:rPr lang="ru-RU" b="1" dirty="0"/>
              <a:t>Управляемое состояние (</a:t>
            </a:r>
            <a:r>
              <a:rPr lang="ru-RU" dirty="0"/>
              <a:t>Не </a:t>
            </a:r>
            <a:r>
              <a:rPr lang="ru-RU" dirty="0" err="1"/>
              <a:t>locks</a:t>
            </a:r>
            <a:r>
              <a:rPr lang="ru-RU" dirty="0"/>
              <a:t>, а высокоуровневые примитивы)</a:t>
            </a:r>
            <a:endParaRPr lang="ru-RU" b="1" dirty="0"/>
          </a:p>
          <a:p>
            <a:r>
              <a:rPr lang="ru-RU" b="1" dirty="0"/>
              <a:t>Простота (</a:t>
            </a:r>
            <a:r>
              <a:rPr lang="en-US" dirty="0" err="1"/>
              <a:t>pmap</a:t>
            </a:r>
            <a:r>
              <a:rPr lang="en-US" dirty="0"/>
              <a:t> </a:t>
            </a:r>
            <a:r>
              <a:rPr lang="ru-RU" dirty="0"/>
              <a:t>вместо ручного управления </a:t>
            </a:r>
            <a:r>
              <a:rPr lang="en-US" dirty="0"/>
              <a:t>thread pool</a:t>
            </a:r>
          </a:p>
          <a:p>
            <a:pPr marL="0" indent="0">
              <a:buNone/>
            </a:pPr>
            <a:r>
              <a:rPr lang="en-US" dirty="0" err="1"/>
              <a:t>core.async</a:t>
            </a:r>
            <a:r>
              <a:rPr lang="en-US" dirty="0"/>
              <a:t> </a:t>
            </a:r>
            <a:r>
              <a:rPr lang="ru-RU" dirty="0"/>
              <a:t>вместо низкоуровневых </a:t>
            </a:r>
            <a:r>
              <a:rPr lang="en-US" dirty="0"/>
              <a:t>queues</a:t>
            </a:r>
          </a:p>
          <a:p>
            <a:pPr marL="0" indent="0">
              <a:buNone/>
            </a:pPr>
            <a:r>
              <a:rPr lang="en-US" dirty="0"/>
              <a:t>fold </a:t>
            </a:r>
            <a:r>
              <a:rPr lang="ru-RU" dirty="0"/>
              <a:t>вместо ручного </a:t>
            </a:r>
            <a:r>
              <a:rPr lang="en-US" dirty="0"/>
              <a:t>fork/join</a:t>
            </a:r>
            <a:r>
              <a:rPr lang="ru-RU" dirty="0"/>
              <a:t>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565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6840C-0CCE-07BF-28EE-D52D0397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ПАТТЕРНЫ СТРУКТУРЫ ПРОГРАММ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D3D2F0-5D8E-E6D3-4632-21A3D21D2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организованы процессы и задачи</a:t>
            </a:r>
          </a:p>
        </p:txBody>
      </p:sp>
    </p:spTree>
    <p:extLst>
      <p:ext uri="{BB962C8B-B14F-4D97-AF65-F5344CB8AC3E}">
        <p14:creationId xmlns:p14="http://schemas.microsoft.com/office/powerpoint/2010/main" val="1962239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6210C5-D1CE-75D8-2F15-354E3CEC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Паттерн 1: </a:t>
            </a:r>
            <a:r>
              <a:rPr lang="en-US" b="1" dirty="0"/>
              <a:t>Iterative Parallelism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FD4B4A-3A6B-92FA-D64B-E1B0FAEE5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Фиксированное число параллельных задач, известное до начала выполнения.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E3D5A8-4BFD-9B5D-3B73-4F85AA5FB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67481"/>
            <a:ext cx="4151110" cy="37797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3DDA3D-8D55-7234-42B4-ED4332D13889}"/>
              </a:ext>
            </a:extLst>
          </p:cNvPr>
          <p:cNvSpPr txBox="1"/>
          <p:nvPr/>
        </p:nvSpPr>
        <p:spPr>
          <a:xfrm>
            <a:off x="6726056" y="3093003"/>
            <a:ext cx="32351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Примеры задач</a:t>
            </a:r>
            <a:r>
              <a:rPr lang="en-US" dirty="0"/>
              <a:t>:</a:t>
            </a:r>
          </a:p>
          <a:p>
            <a:r>
              <a:rPr lang="ru-RU" b="1" dirty="0"/>
              <a:t>Умножение матриц</a:t>
            </a:r>
          </a:p>
          <a:p>
            <a:r>
              <a:rPr lang="ru-RU" b="1" dirty="0"/>
              <a:t>Обработка изображения</a:t>
            </a:r>
          </a:p>
          <a:p>
            <a:r>
              <a:rPr lang="ru-RU" b="1" dirty="0"/>
              <a:t>Численное интегрирование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692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ADC46-4392-FC40-72F6-11F4A30C7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Паттерн 2: </a:t>
            </a:r>
            <a:r>
              <a:rPr lang="en-US" b="1" dirty="0"/>
              <a:t>Recursive Parallelism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AF8751-3806-3F99-0544-84997EA81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Динамическое создание задач. Задачи порождают новые подзадачи рекурсивно.</a:t>
            </a:r>
            <a:r>
              <a:rPr lang="en-US" dirty="0"/>
              <a:t> </a:t>
            </a:r>
            <a:r>
              <a:rPr lang="ru-RU" dirty="0"/>
              <a:t>Принцип </a:t>
            </a:r>
            <a:r>
              <a:rPr lang="en-US" dirty="0"/>
              <a:t>Divide-and-Conquer</a:t>
            </a:r>
          </a:p>
          <a:p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D94804-AB38-EA32-38FB-F5255E867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13" y="2730926"/>
            <a:ext cx="5239826" cy="39090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B37D8-3A0F-3158-98DA-6F10555198AB}"/>
              </a:ext>
            </a:extLst>
          </p:cNvPr>
          <p:cNvSpPr txBox="1"/>
          <p:nvPr/>
        </p:nvSpPr>
        <p:spPr>
          <a:xfrm>
            <a:off x="6726056" y="3093003"/>
            <a:ext cx="18950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Примеры задач</a:t>
            </a:r>
            <a:r>
              <a:rPr lang="en-US" dirty="0"/>
              <a:t>:</a:t>
            </a:r>
          </a:p>
          <a:p>
            <a:r>
              <a:rPr lang="en-US" b="1" dirty="0"/>
              <a:t>Merge Sort</a:t>
            </a:r>
            <a:endParaRPr lang="ru-RU" b="1" dirty="0"/>
          </a:p>
          <a:p>
            <a:r>
              <a:rPr lang="en-US" b="1" dirty="0" err="1"/>
              <a:t>QuickSort</a:t>
            </a:r>
            <a:endParaRPr lang="ru-RU" b="1" dirty="0"/>
          </a:p>
          <a:p>
            <a:r>
              <a:rPr lang="en-US" b="1" dirty="0"/>
              <a:t>Tree traversal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799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C6DC7-5A5C-5361-DDCF-C23DD955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Паттерн 3: </a:t>
            </a:r>
            <a:r>
              <a:rPr lang="en-US" b="1" dirty="0"/>
              <a:t>Producer-Consumer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71A193-2F5D-9703-2920-735954702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Асимметричное взаимодействие - одни процессы генерируют данные (</a:t>
            </a:r>
            <a:r>
              <a:rPr lang="ru-RU" dirty="0" err="1"/>
              <a:t>producers</a:t>
            </a:r>
            <a:r>
              <a:rPr lang="ru-RU" dirty="0"/>
              <a:t>), другие обрабатывают (</a:t>
            </a:r>
            <a:r>
              <a:rPr lang="ru-RU" dirty="0" err="1"/>
              <a:t>consumers</a:t>
            </a:r>
            <a:r>
              <a:rPr lang="ru-RU" dirty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3F1285-D99C-F754-E3D1-79F24B22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3429714"/>
            <a:ext cx="5658640" cy="5715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97B05C-906B-ED8F-BAF0-4FF31F347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82" y="4233592"/>
            <a:ext cx="5325218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3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E28F7-9080-5ED6-A22B-28AF4C1B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Паттерн 4: </a:t>
            </a:r>
            <a:r>
              <a:rPr lang="en-US" b="1" dirty="0"/>
              <a:t>Client-Server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F128CA-3C0F-DC60-1E57-F6A5827E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Асимметричное взаимодействие запрос-ответ:</a:t>
            </a:r>
          </a:p>
          <a:p>
            <a:pPr marL="0" indent="0">
              <a:buNone/>
            </a:pPr>
            <a:r>
              <a:rPr lang="ru-RU" dirty="0"/>
              <a:t>Client (активный) - отправляет запросы</a:t>
            </a:r>
          </a:p>
          <a:p>
            <a:pPr marL="0" indent="0">
              <a:buNone/>
            </a:pPr>
            <a:r>
              <a:rPr lang="ru-RU" dirty="0"/>
              <a:t>Server (пассивный) - ждёт запросов, отвечает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DF9509-9711-5058-FA3A-03EDF17F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36140"/>
            <a:ext cx="7621064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85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2DD40-12B3-F263-2B66-28BCBD37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Паттерн 5: </a:t>
            </a:r>
            <a:r>
              <a:rPr lang="en-US" b="1" dirty="0"/>
              <a:t>Interacting Peers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5B1184-633C-EA24-E0C2-B3F93BEA5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Симметричное взаимодействие - процессы равноправны, нет иерархии </a:t>
            </a:r>
            <a:r>
              <a:rPr lang="ru-RU" dirty="0" err="1"/>
              <a:t>client-server</a:t>
            </a:r>
            <a:r>
              <a:rPr lang="ru-RU" dirty="0"/>
              <a:t>. Возможны различные топологии.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C31645-3BD8-61B8-399D-F12341D09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14" y="3765816"/>
            <a:ext cx="3277057" cy="13527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028546-B2CE-D86D-B40E-3A11BDE0A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955" y="3360080"/>
            <a:ext cx="2114845" cy="22005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D68FCA3-5642-54C8-7274-0609F6825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257" y="3817344"/>
            <a:ext cx="4496427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20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B71E3-7826-5E71-C98E-5AD233CD5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МЕТОДОЛОГИЯ РАСПАРАЛЛЕЛИВАНИЯ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D39064-600F-C6E7-DC6C-52842059A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Как правильно распараллелить задачу?</a:t>
            </a:r>
          </a:p>
        </p:txBody>
      </p:sp>
    </p:spTree>
    <p:extLst>
      <p:ext uri="{BB962C8B-B14F-4D97-AF65-F5344CB8AC3E}">
        <p14:creationId xmlns:p14="http://schemas.microsoft.com/office/powerpoint/2010/main" val="3842496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E08CB-DA6C-6EA7-B199-2D65C07C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Типы декомпозиции (разбиения задачи)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65ECED-42A8-687C-8761-342E10D72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738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Domain </a:t>
            </a:r>
            <a:r>
              <a:rPr lang="ru-RU" b="1" dirty="0" err="1"/>
              <a:t>Decomposition</a:t>
            </a:r>
            <a:r>
              <a:rPr lang="ru-RU" b="1" dirty="0"/>
              <a:t> (Декомпозиция по данным)</a:t>
            </a:r>
          </a:p>
          <a:p>
            <a:pPr marL="0" indent="0">
              <a:buNone/>
            </a:pPr>
            <a:r>
              <a:rPr lang="ru-RU" dirty="0"/>
              <a:t>Разбиваем данные на части, применяем одну операцию к разным частям.</a:t>
            </a:r>
          </a:p>
          <a:p>
            <a:r>
              <a:rPr lang="ru-RU" b="1" dirty="0"/>
              <a:t>Варианты разбиения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b="1" dirty="0"/>
              <a:t>Block Distribution (</a:t>
            </a:r>
            <a:r>
              <a:rPr lang="ru-RU" b="1" dirty="0"/>
              <a:t>Блочное)</a:t>
            </a:r>
            <a:endParaRPr lang="en-US" b="1" dirty="0"/>
          </a:p>
          <a:p>
            <a:endParaRPr lang="en-US" b="1" dirty="0"/>
          </a:p>
          <a:p>
            <a:endParaRPr lang="ru-RU" b="1" dirty="0"/>
          </a:p>
          <a:p>
            <a:pPr marL="0" indent="0">
              <a:buNone/>
            </a:pPr>
            <a:r>
              <a:rPr lang="en-US" b="1" dirty="0"/>
              <a:t>Cyclic Distribution (</a:t>
            </a:r>
            <a:r>
              <a:rPr lang="ru-RU" b="1" dirty="0"/>
              <a:t>Циклическое)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Block-Cyclic (</a:t>
            </a:r>
            <a:r>
              <a:rPr lang="ru-RU" b="1" dirty="0"/>
              <a:t>Блочно-циклическое)</a:t>
            </a:r>
          </a:p>
          <a:p>
            <a:pPr marL="0" indent="0">
              <a:buNone/>
            </a:pPr>
            <a:br>
              <a:rPr lang="ru-RU" dirty="0"/>
            </a:b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50DA2F-53B8-8727-C666-2BAF16127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34" y="2865387"/>
            <a:ext cx="3057659" cy="7386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41BC19-6FBE-8502-CB54-238561443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34" y="3879075"/>
            <a:ext cx="3123468" cy="104929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088BDA-A31A-04DD-8BF8-E9F3D7AF4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034" y="5217858"/>
            <a:ext cx="2928870" cy="122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92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57622-9D68-34AD-DC89-DA69BA41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Типы декомпозиции (разбиения задачи)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5C8247-28A4-D69E-2BC6-DAF36AD89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Functional</a:t>
            </a:r>
            <a:r>
              <a:rPr lang="ru-RU" b="1" dirty="0"/>
              <a:t> </a:t>
            </a:r>
            <a:r>
              <a:rPr lang="ru-RU" b="1" dirty="0" err="1"/>
              <a:t>Decomposition</a:t>
            </a:r>
            <a:r>
              <a:rPr lang="ru-RU" b="1" dirty="0"/>
              <a:t> (Декомпозиция по функциям)</a:t>
            </a:r>
          </a:p>
          <a:p>
            <a:pPr marL="0" indent="0">
              <a:buNone/>
            </a:pPr>
            <a:r>
              <a:rPr lang="ru-RU" dirty="0"/>
              <a:t>Разбиваем задачу на разные подзадачи/операции, выполняемые параллельно.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Пример - обработка заказа</a:t>
            </a:r>
            <a:r>
              <a:rPr lang="en-US" b="1" dirty="0"/>
              <a:t>:</a:t>
            </a:r>
          </a:p>
          <a:p>
            <a:r>
              <a:rPr lang="ru-RU" dirty="0"/>
              <a:t> Task 1: Проверить наличие товара</a:t>
            </a:r>
          </a:p>
          <a:p>
            <a:r>
              <a:rPr lang="ru-RU" dirty="0"/>
              <a:t>  Task 2: Проверить наличие карты</a:t>
            </a:r>
          </a:p>
          <a:p>
            <a:r>
              <a:rPr lang="ru-RU" dirty="0"/>
              <a:t>  Task 3: Рассчитать доставку</a:t>
            </a:r>
          </a:p>
          <a:p>
            <a:r>
              <a:rPr lang="ru-RU" dirty="0"/>
              <a:t>  Task 4: Применить промокод</a:t>
            </a:r>
            <a:br>
              <a:rPr lang="ru-RU" dirty="0"/>
            </a:br>
            <a:r>
              <a:rPr lang="ru-RU" dirty="0"/>
              <a:t>Потом объединяем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956514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2E9B6-F0F8-6799-717E-D590E0CC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Типы декомпозиции (разбиения задачи)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7F45CE-C0C5-EF8D-1A2A-5D3665E72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Recursive Decomposition (</a:t>
            </a:r>
            <a:r>
              <a:rPr lang="ru-RU" b="1" dirty="0"/>
              <a:t>Рекурсивная декомпозиция)</a:t>
            </a:r>
          </a:p>
          <a:p>
            <a:pPr marL="0" indent="0">
              <a:buNone/>
            </a:pPr>
            <a:r>
              <a:rPr lang="ru-RU" dirty="0" err="1"/>
              <a:t>Divide</a:t>
            </a:r>
            <a:r>
              <a:rPr lang="ru-RU" dirty="0"/>
              <a:t>-and-</a:t>
            </a:r>
            <a:r>
              <a:rPr lang="ru-RU" dirty="0" err="1"/>
              <a:t>Conquer</a:t>
            </a:r>
            <a:r>
              <a:rPr lang="ru-RU" dirty="0"/>
              <a:t> - разбиваем задачу на подзадачи того же типа.</a:t>
            </a:r>
          </a:p>
          <a:p>
            <a:pPr marL="0" indent="0">
              <a:buNone/>
            </a:pP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8D7B31-CBAE-CC3A-5B78-C7D1BFC13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50" y="3242854"/>
            <a:ext cx="4867954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59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DAB12-A11B-C7D5-682C-4E222AB7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Типы декомпозиции (разбиения задачи)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C16388-356D-9B8C-0356-CB7781D46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Pipeline Decomposition (</a:t>
            </a:r>
            <a:r>
              <a:rPr lang="ru-RU" b="1" dirty="0"/>
              <a:t>Конвейерная декомпозиция)</a:t>
            </a:r>
          </a:p>
          <a:p>
            <a:pPr marL="0" indent="0">
              <a:buNone/>
            </a:pPr>
            <a:r>
              <a:rPr lang="ru-RU" dirty="0"/>
              <a:t>Разбиваем обработку на стадии, каждая стадия обрабатывает свою часть</a:t>
            </a:r>
            <a:r>
              <a:rPr lang="en-US" dirty="0"/>
              <a:t>.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67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47249F-8BA2-579A-E637-BFA2D929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Методология </a:t>
            </a:r>
            <a:r>
              <a:rPr lang="en-US" b="1" dirty="0"/>
              <a:t>Foster (PCAM)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5A63A7-8315-6FCA-269D-446A47B60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 err="1"/>
              <a:t>Ian</a:t>
            </a:r>
            <a:r>
              <a:rPr lang="ru-RU" b="1" dirty="0"/>
              <a:t> </a:t>
            </a:r>
            <a:r>
              <a:rPr lang="ru-RU" b="1" dirty="0" err="1"/>
              <a:t>Foster</a:t>
            </a:r>
            <a:r>
              <a:rPr lang="ru-RU" dirty="0"/>
              <a:t> предложил четырёхэтапную методологию проектирования параллельных программ:</a:t>
            </a:r>
          </a:p>
          <a:p>
            <a:pPr marL="0" indent="0">
              <a:buNone/>
            </a:pPr>
            <a:r>
              <a:rPr lang="ru-RU" b="1" dirty="0"/>
              <a:t>Этап 1: </a:t>
            </a:r>
            <a:r>
              <a:rPr lang="en-US" b="1" dirty="0"/>
              <a:t>Partitioning (</a:t>
            </a:r>
            <a:r>
              <a:rPr lang="ru-RU" b="1" dirty="0"/>
              <a:t>Разбиение)</a:t>
            </a:r>
            <a:endParaRPr lang="en-US" b="1" dirty="0"/>
          </a:p>
          <a:p>
            <a:pPr marL="0" indent="0">
              <a:buNone/>
            </a:pPr>
            <a:r>
              <a:rPr lang="ru-RU" dirty="0"/>
              <a:t>Разбить задачу на максимально мелкие независимые части.</a:t>
            </a:r>
          </a:p>
          <a:p>
            <a:pPr marL="0" indent="0">
              <a:buNone/>
            </a:pPr>
            <a:r>
              <a:rPr lang="ru-RU" b="1" dirty="0"/>
              <a:t>Этап 2: </a:t>
            </a:r>
            <a:r>
              <a:rPr lang="en-US" b="1" dirty="0"/>
              <a:t>Communication (</a:t>
            </a:r>
            <a:r>
              <a:rPr lang="ru-RU" b="1" dirty="0"/>
              <a:t>Коммуникация)</a:t>
            </a:r>
          </a:p>
          <a:p>
            <a:pPr marL="0" indent="0">
              <a:buNone/>
            </a:pPr>
            <a:r>
              <a:rPr lang="ru-RU" dirty="0"/>
              <a:t>Определить зависимости между частями и необходимую коммуникацию.</a:t>
            </a:r>
          </a:p>
          <a:p>
            <a:pPr marL="0" indent="0">
              <a:buNone/>
            </a:pPr>
            <a:r>
              <a:rPr lang="ru-RU" b="1" dirty="0"/>
              <a:t>Этап 3: </a:t>
            </a:r>
            <a:r>
              <a:rPr lang="en-US" b="1" dirty="0"/>
              <a:t>Agglomeration (</a:t>
            </a:r>
            <a:r>
              <a:rPr lang="ru-RU" b="1" dirty="0"/>
              <a:t>Агломерация)</a:t>
            </a:r>
          </a:p>
          <a:p>
            <a:pPr marL="0" indent="0">
              <a:buNone/>
            </a:pPr>
            <a:r>
              <a:rPr lang="ru-RU" dirty="0"/>
              <a:t>Объединить мелкие задачи в крупные для уменьшения </a:t>
            </a:r>
            <a:r>
              <a:rPr lang="ru-RU" dirty="0" err="1"/>
              <a:t>overhead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Этап 4: </a:t>
            </a:r>
            <a:r>
              <a:rPr lang="ru-RU" b="1" dirty="0" err="1"/>
              <a:t>Mapping</a:t>
            </a:r>
            <a:r>
              <a:rPr lang="ru-RU" b="1" dirty="0"/>
              <a:t> (Отображение на процессоры)</a:t>
            </a:r>
          </a:p>
          <a:p>
            <a:pPr marL="0" indent="0">
              <a:buNone/>
            </a:pPr>
            <a:r>
              <a:rPr lang="ru-RU" dirty="0"/>
              <a:t>Распределить задачи по процессорам для минимизации времени выполнения.</a:t>
            </a:r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257098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542</Words>
  <Application>Microsoft Office PowerPoint</Application>
  <PresentationFormat>Широкоэкранный</PresentationFormat>
  <Paragraphs>93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Тема Office</vt:lpstr>
      <vt:lpstr>Параллелизм</vt:lpstr>
      <vt:lpstr>СТИЛИ ПАРАЛЛЕЛЬНОГО ПРОГРАММИРОВАНИЯ</vt:lpstr>
      <vt:lpstr>Стиль 1: Shared Memory (Разделяемая память)</vt:lpstr>
      <vt:lpstr>Стиль 2: Message Passing (Передача сообщений)</vt:lpstr>
      <vt:lpstr>Стиль 3: Data Parallelism (Параллелизм данных)</vt:lpstr>
      <vt:lpstr>Стиль 4: RPC/Rendezvous</vt:lpstr>
      <vt:lpstr>Философия Clojure</vt:lpstr>
      <vt:lpstr>ПАТТЕРНЫ СТРУКТУРЫ ПРОГРАММ</vt:lpstr>
      <vt:lpstr>Паттерн 1: Iterative Parallelism</vt:lpstr>
      <vt:lpstr>Паттерн 2: Recursive Parallelism</vt:lpstr>
      <vt:lpstr>Паттерн 3: Producer-Consumer</vt:lpstr>
      <vt:lpstr>Паттерн 4: Client-Server</vt:lpstr>
      <vt:lpstr>Паттерн 5: Interacting Peers</vt:lpstr>
      <vt:lpstr>МЕТОДОЛОГИЯ РАСПАРАЛЛЕЛИВАНИЯ</vt:lpstr>
      <vt:lpstr>Типы декомпозиции (разбиения задачи)</vt:lpstr>
      <vt:lpstr>Типы декомпозиции (разбиения задачи)</vt:lpstr>
      <vt:lpstr>Типы декомпозиции (разбиения задачи)</vt:lpstr>
      <vt:lpstr>Типы декомпозиции (разбиения задачи)</vt:lpstr>
      <vt:lpstr>Методология Foster (PCAM)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Даня UC</dc:creator>
  <cp:lastModifiedBy>Даня UC</cp:lastModifiedBy>
  <cp:revision>3</cp:revision>
  <dcterms:created xsi:type="dcterms:W3CDTF">2025-10-26T10:52:36Z</dcterms:created>
  <dcterms:modified xsi:type="dcterms:W3CDTF">2025-10-30T11:19:29Z</dcterms:modified>
</cp:coreProperties>
</file>